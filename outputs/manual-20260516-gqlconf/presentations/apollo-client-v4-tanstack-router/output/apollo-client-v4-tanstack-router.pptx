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fc2ab444e540a2" /><Relationship Type="http://schemas.openxmlformats.org/officeDocument/2006/relationships/extended-properties" Target="/docProps/app.xml" Id="Ra569c455f03c4552" /><Relationship Type="http://schemas.openxmlformats.org/officeDocument/2006/relationships/officeDocument" Target="/ppt/presentation.xml" Id="R86b39c789abc4b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98ed0c682f4505"/>
  </p:sldMasterIdLst>
  <p:notesMasterIdLst>
    <p:notesMasterId xmlns:r="http://schemas.openxmlformats.org/officeDocument/2006/relationships" r:id="R9efefc7cd63f46ad"/>
  </p:notesMasterIdLst>
  <p:sldIdLst>
    <p:sldId xmlns:r="http://schemas.openxmlformats.org/officeDocument/2006/relationships" id="256" r:id="Rbfa8056e968f4142"/>
    <p:sldId xmlns:r="http://schemas.openxmlformats.org/officeDocument/2006/relationships" id="257" r:id="Rea38300f5e734fe0"/>
    <p:sldId xmlns:r="http://schemas.openxmlformats.org/officeDocument/2006/relationships" id="258" r:id="Rc44b22cd037549d0"/>
    <p:sldId xmlns:r="http://schemas.openxmlformats.org/officeDocument/2006/relationships" id="259" r:id="Rfa8bc680f9234056"/>
    <p:sldId xmlns:r="http://schemas.openxmlformats.org/officeDocument/2006/relationships" id="260" r:id="R214c64450f854b04"/>
    <p:sldId xmlns:r="http://schemas.openxmlformats.org/officeDocument/2006/relationships" id="261" r:id="R18bf847d50d740bc"/>
    <p:sldId xmlns:r="http://schemas.openxmlformats.org/officeDocument/2006/relationships" id="262" r:id="R1771bc661a6142f7"/>
    <p:sldId xmlns:r="http://schemas.openxmlformats.org/officeDocument/2006/relationships" id="263" r:id="Red1d9d6e078444ff"/>
    <p:sldId xmlns:r="http://schemas.openxmlformats.org/officeDocument/2006/relationships" id="264" r:id="Rf7f4222ca09e4674"/>
    <p:sldId xmlns:r="http://schemas.openxmlformats.org/officeDocument/2006/relationships" id="265" r:id="R92260b8da8334e57"/>
    <p:sldId xmlns:r="http://schemas.openxmlformats.org/officeDocument/2006/relationships" id="266" r:id="Rf53441f3ffb642a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98ed0c682f4505" /><Relationship Type="http://schemas.openxmlformats.org/officeDocument/2006/relationships/theme" Target="/ppt/theme/theme1.xml" Id="R297e6061bd3941c2" /><Relationship Type="http://schemas.openxmlformats.org/officeDocument/2006/relationships/notesMaster" Target="/ppt/notesMasters/notesMaster1.xml" Id="R9efefc7cd63f46ad" /><Relationship Type="http://schemas.openxmlformats.org/officeDocument/2006/relationships/presProps" Target="/ppt/presProps.xml" Id="R4cc606adcf3b4106" /><Relationship Type="http://schemas.openxmlformats.org/officeDocument/2006/relationships/viewProps" Target="/ppt/viewProps.xml" Id="R57c8475694b648de" /><Relationship Type="http://schemas.openxmlformats.org/officeDocument/2006/relationships/tableStyles" Target="/ppt/tableStyles.xml" Id="Ra48d0e79f73745d9" /><Relationship Type="http://schemas.openxmlformats.org/officeDocument/2006/relationships/slide" Target="/ppt/slides/slide1.xml" Id="Rbfa8056e968f4142" /><Relationship Type="http://schemas.openxmlformats.org/officeDocument/2006/relationships/slide" Target="/ppt/slides/slide2.xml" Id="Rea38300f5e734fe0" /><Relationship Type="http://schemas.openxmlformats.org/officeDocument/2006/relationships/slide" Target="/ppt/slides/slide3.xml" Id="Rc44b22cd037549d0" /><Relationship Type="http://schemas.openxmlformats.org/officeDocument/2006/relationships/slide" Target="/ppt/slides/slide4.xml" Id="Rfa8bc680f9234056" /><Relationship Type="http://schemas.openxmlformats.org/officeDocument/2006/relationships/slide" Target="/ppt/slides/slide5.xml" Id="R214c64450f854b04" /><Relationship Type="http://schemas.openxmlformats.org/officeDocument/2006/relationships/slide" Target="/ppt/slides/slide6.xml" Id="R18bf847d50d740bc" /><Relationship Type="http://schemas.openxmlformats.org/officeDocument/2006/relationships/slide" Target="/ppt/slides/slide7.xml" Id="R1771bc661a6142f7" /><Relationship Type="http://schemas.openxmlformats.org/officeDocument/2006/relationships/slide" Target="/ppt/slides/slide8.xml" Id="Red1d9d6e078444ff" /><Relationship Type="http://schemas.openxmlformats.org/officeDocument/2006/relationships/slide" Target="/ppt/slides/slide9.xml" Id="Rf7f4222ca09e4674" /><Relationship Type="http://schemas.openxmlformats.org/officeDocument/2006/relationships/slide" Target="/ppt/slides/slide10.xml" Id="R92260b8da8334e57" /><Relationship Type="http://schemas.openxmlformats.org/officeDocument/2006/relationships/slide" Target="/ppt/slides/slide11.xml" Id="Rf53441f3ffb642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952fa30989349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25102fdce5446d" /><Relationship Type="http://schemas.openxmlformats.org/officeDocument/2006/relationships/notesMaster" Target="/ppt/notesMasters/notesMaster1.xml" Id="R2f573ac3f6b042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ca5afe2fd314fb4" /><Relationship Type="http://schemas.openxmlformats.org/officeDocument/2006/relationships/notesMaster" Target="/ppt/notesMasters/notesMaster1.xml" Id="R2f820116c35c488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20f529e8faf4116" /><Relationship Type="http://schemas.openxmlformats.org/officeDocument/2006/relationships/notesMaster" Target="/ppt/notesMasters/notesMaster1.xml" Id="R95aa679cf169496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eae2ea99ed4fba" /><Relationship Type="http://schemas.openxmlformats.org/officeDocument/2006/relationships/notesMaster" Target="/ppt/notesMasters/notesMaster1.xml" Id="R3ba0e993e5444f2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582e0acd18f4968" /><Relationship Type="http://schemas.openxmlformats.org/officeDocument/2006/relationships/notesMaster" Target="/ppt/notesMasters/notesMaster1.xml" Id="Rfea50d897f5248e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358cf67a00840f8" /><Relationship Type="http://schemas.openxmlformats.org/officeDocument/2006/relationships/notesMaster" Target="/ppt/notesMasters/notesMaster1.xml" Id="Ra7de970d31264e5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37b3343c5e342b8" /><Relationship Type="http://schemas.openxmlformats.org/officeDocument/2006/relationships/notesMaster" Target="/ppt/notesMasters/notesMaster1.xml" Id="Ra7319bc62fbd480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d96fa2449c04fb7" /><Relationship Type="http://schemas.openxmlformats.org/officeDocument/2006/relationships/notesMaster" Target="/ppt/notesMasters/notesMaster1.xml" Id="R9dccc3e408534ce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60fe0e7ef604527" /><Relationship Type="http://schemas.openxmlformats.org/officeDocument/2006/relationships/notesMaster" Target="/ppt/notesMasters/notesMaster1.xml" Id="R44da9a9614e84f0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11a7080f6b74601" /><Relationship Type="http://schemas.openxmlformats.org/officeDocument/2006/relationships/notesMaster" Target="/ppt/notesMasters/notesMaster1.xml" Id="Rc4069caacc6c4c0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9b1e5962a364249" /><Relationship Type="http://schemas.openxmlformats.org/officeDocument/2006/relationships/notesMaster" Target="/ppt/notesMasters/notesMaster1.xml" Id="Rb9f9dc9cd06543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b145fbb665467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bb4f814f789486e" /><Relationship Type="http://schemas.openxmlformats.org/officeDocument/2006/relationships/slideLayout" Target="/ppt/slideLayouts/slideLayout2.xml" Id="R507bfbacc80e41e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7bfbacc80e41e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0e1f3c2a454e1f" /><Relationship Type="http://schemas.openxmlformats.org/officeDocument/2006/relationships/notesSlide" Target="/ppt/notesSlides/notesSlide1.xml" Id="R3a281c55771845c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bd0d30b3d64d7c" /><Relationship Type="http://schemas.openxmlformats.org/officeDocument/2006/relationships/notesSlide" Target="/ppt/notesSlides/notesSlide2.xml" Id="Rae2a25528c434b2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0d49ee5ea64319" /><Relationship Type="http://schemas.openxmlformats.org/officeDocument/2006/relationships/notesSlide" Target="/ppt/notesSlides/notesSlide3.xml" Id="R481f0433560f438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4c658d39d444702" /><Relationship Type="http://schemas.openxmlformats.org/officeDocument/2006/relationships/notesSlide" Target="/ppt/notesSlides/notesSlide4.xml" Id="Rf179a59c49724c6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bc0efa7c554e41" /><Relationship Type="http://schemas.openxmlformats.org/officeDocument/2006/relationships/notesSlide" Target="/ppt/notesSlides/notesSlide5.xml" Id="R22a82c859c6f4fe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17e2cc040104bd8" /><Relationship Type="http://schemas.openxmlformats.org/officeDocument/2006/relationships/notesSlide" Target="/ppt/notesSlides/notesSlide6.xml" Id="Rbc0d41f5f259478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9b425fa8fd440d" /><Relationship Type="http://schemas.openxmlformats.org/officeDocument/2006/relationships/notesSlide" Target="/ppt/notesSlides/notesSlide7.xml" Id="Rc5450c96119e46b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84813db8c94258" /><Relationship Type="http://schemas.openxmlformats.org/officeDocument/2006/relationships/notesSlide" Target="/ppt/notesSlides/notesSlide8.xml" Id="R344852b7b2d94c1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508c64268204d92" /><Relationship Type="http://schemas.openxmlformats.org/officeDocument/2006/relationships/notesSlide" Target="/ppt/notesSlides/notesSlide9.xml" Id="Rea9e1f13c8a14f8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93853263154228" /><Relationship Type="http://schemas.openxmlformats.org/officeDocument/2006/relationships/notesSlide" Target="/ppt/notesSlides/notesSlide10.xml" Id="R1a88d1363b80477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c7e9acffaf46d0" /><Relationship Type="http://schemas.openxmlformats.org/officeDocument/2006/relationships/notesSlide" Target="/ppt/notesSlides/notesSlide11.xml" Id="Re5c9efc4f965488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BFA4AE-166A-4EA5-855B-02D214242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218C34-97D4-48EA-BAC1-75EE5C138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0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9C1E42-96E4-41E3-9713-FAEADC8A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8D58FA-7D19-4067-963D-2C789DB70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GRAPHQL CONF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A3BB55-DC16-424A-A8ED-4DA74F2AC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38875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7112D0-47F9-45B8-984A-332DCA7D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7810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Apollo Client v4 + TanStack Router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9DE345-DA74-452B-8C08-B4463A6C9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81300"/>
            <a:ext cx="628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8B3C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8B3C2"/>
                </a:solidFill>
                <a:latin typeface="Aptos"/>
                <a:ea typeface="Aptos"/>
                <a:cs typeface="Aptos"/>
              </a:rPr>
              <a:t>Modern React data loading without giving up a normalized cache.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A1D87A-F665-4D2F-9223-342EAF932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05250"/>
            <a:ext cx="1257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9525">
            <a:solidFill>
              <a:srgbClr val="6EE7B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27FA06-0F33-48FB-A224-E224EA34C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8145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0F1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0F14"/>
                </a:solidFill>
                <a:latin typeface="Aptos"/>
                <a:ea typeface="Aptos"/>
                <a:cs typeface="Aptos"/>
              </a:rPr>
              <a:t>codegen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227B55-1F42-4B92-B5BF-85C28A0D6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905250"/>
            <a:ext cx="156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F5"/>
          </a:solidFill>
          <a:ln xmlns:a="http://schemas.openxmlformats.org/drawingml/2006/main" w="9525">
            <a:solidFill>
              <a:srgbClr val="55D6F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CF44B2-0DA5-4703-9EF7-134EDC131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981450"/>
            <a:ext cx="1562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0F1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0F14"/>
                </a:solidFill>
                <a:latin typeface="Aptos"/>
                <a:ea typeface="Aptos"/>
                <a:cs typeface="Aptos"/>
              </a:rPr>
              <a:t>route preload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FE39B7-98C2-47AE-9F92-AC7799E4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905250"/>
            <a:ext cx="1581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BD9134-754A-44A5-ADA4-256943DE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981450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0F1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0F14"/>
                </a:solidFill>
                <a:latin typeface="Aptos"/>
                <a:ea typeface="Aptos"/>
                <a:cs typeface="Aptos"/>
              </a:rPr>
              <a:t>optimistic UI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171A7B-C891-467E-95FD-25BB6C3D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905250"/>
            <a:ext cx="2076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2FF"/>
          </a:solidFill>
          <a:ln xmlns:a="http://schemas.openxmlformats.org/drawingml/2006/main" w="9525">
            <a:solidFill>
              <a:srgbClr val="B7A2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C59A9C-BDE3-400D-9C51-83EF0CF8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981450"/>
            <a:ext cx="2076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0F1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0F14"/>
                </a:solidFill>
                <a:latin typeface="Aptos"/>
                <a:ea typeface="Aptos"/>
                <a:cs typeface="Aptos"/>
              </a:rPr>
              <a:t>cache-first rendering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88B7D9-83BD-494F-B185-968D40880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143000"/>
            <a:ext cx="23241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E27"/>
          </a:solidFill>
          <a:ln xmlns:a="http://schemas.openxmlformats.org/drawingml/2006/main" w="9525">
            <a:solidFill>
              <a:srgbClr val="2C3A4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785F67-96A5-4F42-A101-FA4C0A172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524000"/>
            <a:ext cx="1600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{ data }</a:t>
            </a:r>
          </a:p>
          <a:p xmlns:a="http://schemas.openxmlformats.org/drawingml/2006/main">
            <a:pPr algn="ctr">
              <a:defRPr sz="210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flows where</a:t>
            </a:r>
          </a:p>
          <a:p xmlns:a="http://schemas.openxmlformats.org/drawingml/2006/main">
            <a:pPr algn="ctr">
              <a:defRPr sz="210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components</a:t>
            </a:r>
          </a:p>
          <a:p xmlns:a="http://schemas.openxmlformats.org/drawingml/2006/main">
            <a:pPr algn="ctr">
              <a:defRPr sz="210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need 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3514FE-CE4B-4697-92D1-502E2B6E0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Talk goal: use the slides as guardrails while the app does the teaching.</a:t>
            </a:r>
          </a:p>
        </p:txBody>
      </p:sp>
    </p:spTree>
    <p:extLst>
      <p:ext uri="{BB962C8B-B14F-4D97-AF65-F5344CB8AC3E}">
        <p14:creationId xmlns:p14="http://schemas.microsoft.com/office/powerpoint/2010/main" val="5747939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9871C5-154A-44FC-A532-FC74B88FE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FF1ED8-59C0-4D40-BB4D-75895846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0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9E7CB2-2BD6-4C99-82B6-9459AC84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B8D12B-51D4-4DC2-9525-4CD86D0BA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GRAPHQL CONF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497418-6BFB-46BF-8B4C-2D2AE7722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38875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F4E09C-69C4-4F67-AE14-42F361687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8D411B-F951-4E34-A8F4-506594EE3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05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B3C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8B3C2"/>
                </a:solidFill>
                <a:latin typeface="Aptos"/>
                <a:ea typeface="Aptos"/>
                <a:cs typeface="Aptos"/>
              </a:rPr>
              <a:t>OPENING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2ADA08-5678-4CC0-9132-8D5CA9CF9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9334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AI can write code. It cannot own your data model.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C2496F-6D61-4F6C-B9FD-7B8507FE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0"/>
            <a:ext cx="742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5F7FA"/>
                </a:solidFill>
                <a:latin typeface="Aptos"/>
                <a:ea typeface="Aptos"/>
                <a:cs typeface="Aptos"/>
              </a:rPr>
              <a:t>Library knowledge is still the difference between plausible code and correct architecture.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FE09D9-2C25-4B78-9E8D-FB62C11BE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3143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E27"/>
          </a:solidFill>
          <a:ln xmlns:a="http://schemas.openxmlformats.org/drawingml/2006/main" w="9525">
            <a:solidFill>
              <a:srgbClr val="2C3A4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0803C2-F3ED-406D-8C28-F4F5F7A9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2D1FF5-D8DD-4F7C-9423-4661B3FDE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62350"/>
            <a:ext cx="2762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AI often reaches for the obvious hook.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4937D7-DC0B-4E4B-9053-7432E12F4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90900"/>
            <a:ext cx="3143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E27"/>
          </a:solidFill>
          <a:ln xmlns:a="http://schemas.openxmlformats.org/drawingml/2006/main" w="9525">
            <a:solidFill>
              <a:srgbClr val="2C3A4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036747-0D0A-4840-BDD9-4E2D7590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9090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03A7DD-ABA6-4809-A89C-C58A94F01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562350"/>
            <a:ext cx="2762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Modern Apollo gives us sharper tools.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D7052D-1E16-4E20-807F-CA4799B10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90900"/>
            <a:ext cx="3143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E27"/>
          </a:solidFill>
          <a:ln xmlns:a="http://schemas.openxmlformats.org/drawingml/2006/main" w="9525">
            <a:solidFill>
              <a:srgbClr val="2C3A4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D81BE8-6796-4C06-A8FE-1BDBADBD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9090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8D17E5-8C48-45CE-8E7F-4D1DBF2D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562350"/>
            <a:ext cx="2762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You need to know when to use them.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1D173A-0380-49C7-8562-32301265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29200"/>
            <a:ext cx="819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3C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B3C2"/>
                </a:solidFill>
                <a:latin typeface="Aptos"/>
                <a:ea typeface="Aptos"/>
                <a:cs typeface="Aptos"/>
              </a:rPr>
              <a:t>Example: @nonreactive is not a random directive. It changes who listens to cache updates.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D4B60E-420A-4541-9984-1B5A6038C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Set the frame: AI accelerates implementation, but library judgment still matters.</a:t>
            </a:r>
          </a:p>
        </p:txBody>
      </p:sp>
    </p:spTree>
    <p:extLst>
      <p:ext uri="{BB962C8B-B14F-4D97-AF65-F5344CB8AC3E}">
        <p14:creationId xmlns:p14="http://schemas.microsoft.com/office/powerpoint/2010/main" val="135009954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307F00-FBDC-475D-A909-12C2AEEDA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A213BE-60F5-4F87-9E4A-A5B75B339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0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17E9FC-15A3-44C1-B36D-A422F4EF3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38BA39-C36A-4F58-83F3-3264491D1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GRAPHQL CONF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A800A8-CB45-442A-9F3D-36E20FA75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38875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C53673-E214-4AD2-9645-7B8236E80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E9A31F-9ECC-45A2-9D7C-B1CE6D27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05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B3C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8B3C2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16891A-42F9-4915-B40D-05DE552C6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8191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Move the first fetch to the route boundary.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F5476B-F0AE-415D-85BC-653C2FED9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86100"/>
            <a:ext cx="2038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E27"/>
          </a:solidFill>
          <a:ln xmlns:a="http://schemas.openxmlformats.org/drawingml/2006/main" w="9525">
            <a:solidFill>
              <a:srgbClr val="2C3A4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7FB214-0153-4FB4-B7A0-86260FE79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861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F770F5-22D1-44E2-9B73-8265B73A8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16573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TanStack Router</a:t>
            </a:r>
          </a:p>
          <a:p xmlns:a="http://schemas.openxmlformats.org/drawingml/2006/main">
            <a:pPr algn="l">
              <a:defRPr sz="13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loader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B9B0F1-B229-4249-AD0D-C451222A8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619500"/>
            <a:ext cx="723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20CB8C-9310-4348-8861-FCB519790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55282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5D6F5"/>
          </a:solidFill>
          <a:ln xmlns:a="http://schemas.openxmlformats.org/drawingml/2006/main" w="0">
            <a:solidFill>
              <a:srgbClr val="55D6F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B1300F-7AED-43E5-A05C-3D7E5C402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086100"/>
            <a:ext cx="2038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E27"/>
          </a:solidFill>
          <a:ln xmlns:a="http://schemas.openxmlformats.org/drawingml/2006/main" w="9525">
            <a:solidFill>
              <a:srgbClr val="2C3A4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470333-901B-4330-8D5C-63943013B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0861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DD26B2-F06C-4E13-AB10-C12F642E2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257550"/>
            <a:ext cx="16573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Apollo</a:t>
            </a:r>
          </a:p>
          <a:p xmlns:a="http://schemas.openxmlformats.org/drawingml/2006/main">
            <a:pPr algn="l">
              <a:defRPr sz="13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preloadQuery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C65B29-75C5-443D-BDFC-100ACDF1A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19500"/>
            <a:ext cx="723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D89C7F-CB3A-45F3-87DC-FFBF6061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5282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6EE7B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4F5531-A463-49CC-A526-DAEA31BAA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86100"/>
            <a:ext cx="2038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E27"/>
          </a:solidFill>
          <a:ln xmlns:a="http://schemas.openxmlformats.org/drawingml/2006/main" w="9525">
            <a:solidFill>
              <a:srgbClr val="2C3A4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33178D-3904-4D8E-9412-2ECC4CA1C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861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480C67-0FEC-4832-9B50-E5EFDEED1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57550"/>
            <a:ext cx="16573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Normalized</a:t>
            </a:r>
          </a:p>
          <a:p xmlns:a="http://schemas.openxmlformats.org/drawingml/2006/main">
            <a:pPr algn="l">
              <a:defRPr sz="13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cache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EA0BA5-E5EA-4713-8635-F033387DA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619500"/>
            <a:ext cx="723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DE7036-EFC8-409F-AB98-BC76024F7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55282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FBBF2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1EB61F-BAD9-44F6-B6E6-8E27E499C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086100"/>
            <a:ext cx="1619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632"/>
          </a:solidFill>
          <a:ln xmlns:a="http://schemas.openxmlformats.org/drawingml/2006/main" w="9525">
            <a:solidFill>
              <a:srgbClr val="2C3A4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A4DD90-7446-4180-A5FA-831CE1D5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0861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02C3A5-78EA-4938-BD74-0C97D49F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257550"/>
            <a:ext cx="1238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Route</a:t>
            </a:r>
          </a:p>
          <a:p xmlns:a="http://schemas.openxmlformats.org/drawingml/2006/main">
            <a:pPr algn="l">
              <a:defRPr sz="13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component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8F0475-72EA-430D-9B56-4903D3180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8286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3C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B3C2"/>
                </a:solidFill>
                <a:latin typeface="Aptos"/>
                <a:ea typeface="Aptos"/>
                <a:cs typeface="Aptos"/>
              </a:rPr>
              <a:t>The component renders with data already in motion, not after a useEffect-style waterfall.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1EA2FB-8702-43CB-A0AC-669F71205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Demo cue: show the route definition before opening the UI.</a:t>
            </a:r>
          </a:p>
        </p:txBody>
      </p:sp>
    </p:spTree>
    <p:extLst>
      <p:ext uri="{BB962C8B-B14F-4D97-AF65-F5344CB8AC3E}">
        <p14:creationId xmlns:p14="http://schemas.microsoft.com/office/powerpoint/2010/main" val="141438292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A03013-78C8-494F-83ED-BC6F0D9DC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1833EF-553F-4E63-B213-ED6E45C7B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0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AB011F-AF4C-4A15-9780-EC60E9A90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C233A0-740F-44C8-85C1-668492D77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GRAPHQL CONF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798540-F12C-48F6-80F1-5FC6381C4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38875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C19A84-0ED4-4B89-9DC8-B41A133D1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784844-E639-47BF-8012-E9E70C06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05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B3C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8B3C2"/>
                </a:solidFill>
                <a:latin typeface="Aptos"/>
                <a:ea typeface="Aptos"/>
                <a:cs typeface="Aptos"/>
              </a:rPr>
              <a:t>CODEGEN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876C9E-9550-42E1-B12E-57E335655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8572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Let the schema shape the app before runtime.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952994-023E-4DF7-8C0E-03A888EF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8130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schema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4EE070-C12E-44C0-BC3A-FEC6F6A70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933700"/>
            <a:ext cx="180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E58CE4-DC6F-4EB7-A6DE-2C76CC043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813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8B3C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A8B3C2"/>
                </a:solidFill>
                <a:latin typeface="Aptos"/>
                <a:ea typeface="Aptos"/>
                <a:cs typeface="Aptos"/>
              </a:rPr>
              <a:t>types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A5F514-C00E-4642-92A3-CB84F70A1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0045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operations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A2F613-4023-4724-AC32-708A68356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752850"/>
            <a:ext cx="180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5EC7D5-9D67-4E4F-BBEF-9F59F88F1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0045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8B3C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A8B3C2"/>
                </a:solidFill>
                <a:latin typeface="Aptos"/>
                <a:ea typeface="Aptos"/>
                <a:cs typeface="Aptos"/>
              </a:rPr>
              <a:t>documents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6BAFA9-777D-4D71-98F6-BC972364C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1960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fragments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90BFE3-6D7D-431F-B8C4-0494FBB21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572000"/>
            <a:ext cx="180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CCD116-92F1-46F6-A18D-0A1C6EDC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196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8B3C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A8B3C2"/>
                </a:solidFill>
                <a:latin typeface="Aptos"/>
                <a:ea typeface="Aptos"/>
                <a:cs typeface="Aptos"/>
              </a:rPr>
              <a:t>component contracts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34A4B9-5C4F-4229-80BD-CF92683F6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1970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3C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B3C2"/>
                </a:solidFill>
                <a:latin typeface="Aptos"/>
                <a:ea typeface="Aptos"/>
                <a:cs typeface="Aptos"/>
              </a:rPr>
              <a:t>The best refactor is the one TypeScript refuses to let you half-finish.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32B2DC-3024-4749-89C4-BF6877FB5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Demo cue: point at generated operation types and fragment references.</a:t>
            </a:r>
          </a:p>
        </p:txBody>
      </p:sp>
    </p:spTree>
    <p:extLst>
      <p:ext uri="{BB962C8B-B14F-4D97-AF65-F5344CB8AC3E}">
        <p14:creationId xmlns:p14="http://schemas.microsoft.com/office/powerpoint/2010/main" val="113133070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27C47B-32A7-4185-9EFD-503F3597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DD3BBA-D727-447F-AF20-71EAFA46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0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69733A-272D-479E-ACF5-337A8C2C4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6FBB25-7169-40C0-A6A0-260443F47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GRAPHQL CONF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12D855-80B9-4467-A27A-6C54FA21C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38875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BD05D3-05D0-440D-82EE-68518F8A6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5BA431-8E4B-4919-88E9-29352A4EF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05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B3C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8B3C2"/>
                </a:solidFill>
                <a:latin typeface="Aptos"/>
                <a:ea typeface="Aptos"/>
                <a:cs typeface="Aptos"/>
              </a:rPr>
              <a:t>COLOCATION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3081B5-B1B7-45DC-9FCD-974B1088F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9334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Queries compose the screen. Fragments belong to components.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0C69BA-4B79-4B77-87D8-0DBB31D6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2476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E27"/>
          </a:solidFill>
          <a:ln xmlns:a="http://schemas.openxmlformats.org/drawingml/2006/main" w="9525">
            <a:solidFill>
              <a:srgbClr val="2C3A4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6E7BBF-D588-4D35-B793-408D85AA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47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A3841A-DFC1-4E2D-A6AF-33F11F322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28950"/>
            <a:ext cx="209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Route query</a:t>
            </a:r>
          </a:p>
          <a:p xmlns:a="http://schemas.openxmlformats.org/drawingml/2006/main">
            <a:pPr algn="l">
              <a:defRPr sz="13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selects ids + spreads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F7685A-9149-47B8-A632-86E6D5AA3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857500"/>
            <a:ext cx="2476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E27"/>
          </a:solidFill>
          <a:ln xmlns:a="http://schemas.openxmlformats.org/drawingml/2006/main" w="9525">
            <a:solidFill>
              <a:srgbClr val="2C3A4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C3902F-4220-4E26-9DA3-7F5E3597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857500"/>
            <a:ext cx="47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BAD8D0-DF2C-42C0-B7FA-6271EF2E0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28950"/>
            <a:ext cx="209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List component</a:t>
            </a:r>
          </a:p>
          <a:p xmlns:a="http://schemas.openxmlformats.org/drawingml/2006/main">
            <a:pPr algn="l">
              <a:defRPr sz="13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maps entities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1C4B95-BDEE-4861-9158-5BCBCC2B6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857500"/>
            <a:ext cx="2476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E27"/>
          </a:solidFill>
          <a:ln xmlns:a="http://schemas.openxmlformats.org/drawingml/2006/main" w="9525">
            <a:solidFill>
              <a:srgbClr val="2C3A4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60DE1A-96E4-4D80-AC8A-3AB81C884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857500"/>
            <a:ext cx="47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F20634-4F27-46ED-9248-C12FAA228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028950"/>
            <a:ext cx="209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Row component</a:t>
            </a:r>
          </a:p>
          <a:p xmlns:a="http://schemas.openxmlformats.org/drawingml/2006/main">
            <a:pPr algn="l">
              <a:defRPr sz="13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reads its fragment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AAA858-D975-4E22-A2D4-F0F6C06F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40995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A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29812F-B75D-49CB-ACDC-45E62B1E1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162300"/>
            <a:ext cx="1066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BBF2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BBF24"/>
                </a:solidFill>
                <a:latin typeface="Aptos"/>
                <a:ea typeface="Aptos"/>
                <a:cs typeface="Aptos"/>
              </a:rPr>
              <a:t>less prop</a:t>
            </a:r>
          </a:p>
          <a:p xmlns:a="http://schemas.openxmlformats.org/drawingml/2006/main">
            <a:pPr algn="ctr">
              <a:defRPr sz="1350" b="1">
                <a:solidFill>
                  <a:srgbClr val="FBBF2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BBF24"/>
                </a:solidFill>
                <a:latin typeface="Aptos"/>
                <a:ea typeface="Aptos"/>
                <a:cs typeface="Aptos"/>
              </a:rPr>
              <a:t>drilling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FD01FE-32C3-4CC6-B5E9-F57DF3897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76800"/>
            <a:ext cx="647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3C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8B3C2"/>
                </a:solidFill>
                <a:latin typeface="Aptos"/>
                <a:ea typeface="Aptos"/>
                <a:cs typeface="Aptos"/>
              </a:rPr>
              <a:t>Repeated fields are not duplication. They are ownership.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309197-F5A8-404A-BF55-149AA7D6C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Demo cue: open parent query, then child fragment.</a:t>
            </a:r>
          </a:p>
        </p:txBody>
      </p:sp>
    </p:spTree>
    <p:extLst>
      <p:ext uri="{BB962C8B-B14F-4D97-AF65-F5344CB8AC3E}">
        <p14:creationId xmlns:p14="http://schemas.microsoft.com/office/powerpoint/2010/main" val="55490007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8BD5A4-B10C-4206-8F4A-91936732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75CB7D-8F45-40AF-B62C-8D5A7DAE3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0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8F1397-C1A0-46F9-9DFB-4490E72E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7E4698-B73E-44AB-A03E-7FC08E725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GRAPHQL CONF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61AD58-BC3C-4612-92DE-4951FF5A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38875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04A6C6-58E7-47AF-B53A-AB788E9C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99147D-9679-4AD4-9596-C63A89908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05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B3C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8B3C2"/>
                </a:solidFill>
                <a:latin typeface="Aptos"/>
                <a:ea typeface="Aptos"/>
                <a:cs typeface="Aptos"/>
              </a:rPr>
              <a:t>CACHE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184DE8-7AAF-4641-BDDB-FE80F6259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8191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The cache is not just a response store.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925472-4AFF-44AC-9105-DA52EFDC1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2095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E27"/>
          </a:solidFill>
          <a:ln xmlns:a="http://schemas.openxmlformats.org/drawingml/2006/main" w="9525">
            <a:solidFill>
              <a:srgbClr val="2C3A4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0C209F-C908-43F1-8BE6-0DF1DDBC6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076450"/>
            <a:ext cx="243840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632"/>
          </a:solidFill>
          <a:ln xmlns:a="http://schemas.openxmlformats.org/drawingml/2006/main" w="19050">
            <a:solidFill>
              <a:srgbClr val="55D6F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A85687-C01D-47A1-AF2F-3EF9922A0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81300"/>
            <a:ext cx="2095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E27"/>
          </a:solidFill>
          <a:ln xmlns:a="http://schemas.openxmlformats.org/drawingml/2006/main" w="9525">
            <a:solidFill>
              <a:srgbClr val="2C3A4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DD0560-085A-44E6-B8D3-97966B86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2420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A8B3C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A8B3C2"/>
                </a:solidFill>
                <a:latin typeface="Aptos"/>
                <a:ea typeface="Aptos"/>
                <a:cs typeface="Aptos"/>
              </a:rPr>
              <a:t>server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7A6C87-E6A3-4E76-9589-3E77FA6C5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38450"/>
            <a:ext cx="1752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normalized</a:t>
            </a:r>
          </a:p>
          <a:p xmlns:a="http://schemas.openxmlformats.org/drawingml/2006/main">
            <a:pPr algn="ctr">
              <a:defRPr sz="210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entity graph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A57355-3085-47FF-BE66-88A60D156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12420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A8B3C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A8B3C2"/>
                </a:solidFill>
                <a:latin typeface="Aptos"/>
                <a:ea typeface="Aptos"/>
                <a:cs typeface="Aptos"/>
              </a:rPr>
              <a:t>component reads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7B6F86-0D30-4B25-B568-5CB1422B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57550"/>
            <a:ext cx="140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E70FCA-D228-49F8-92C7-A293325F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57550"/>
            <a:ext cx="1295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0B406D-A997-4C6C-BA6B-F4C6672E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0540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3C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8B3C2"/>
                </a:solidFill>
                <a:latin typeface="Aptos"/>
                <a:ea typeface="Aptos"/>
                <a:cs typeface="Aptos"/>
              </a:rPr>
              <a:t>If the graph is correct, refetches become the exception.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107E1E-01CB-452C-9B90-22C45FECF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Demo cue: show cache update reflected without reloading the route.</a:t>
            </a:r>
          </a:p>
        </p:txBody>
      </p:sp>
    </p:spTree>
    <p:extLst>
      <p:ext uri="{BB962C8B-B14F-4D97-AF65-F5344CB8AC3E}">
        <p14:creationId xmlns:p14="http://schemas.microsoft.com/office/powerpoint/2010/main" val="203515909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2B369E-A34F-4FF1-B6F2-3F71634B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F28835-30F1-46B0-8CA7-4081063C8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0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BB4063-0C34-400F-9A59-E9248F6C5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886B49-897B-4248-80D0-E7EE60CE4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GRAPHQL CONF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13125A-4CDA-4FC9-B390-E53935270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38875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F95145-6C25-4497-A777-23484B6EB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7DA42D-A124-4D02-8457-66CF3B220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05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B3C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8B3C2"/>
                </a:solidFill>
                <a:latin typeface="Aptos"/>
                <a:ea typeface="Aptos"/>
                <a:cs typeface="Aptos"/>
              </a:rPr>
              <a:t>MUTATION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26FE09-E017-4DB2-902D-6CD5BFCC3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9334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Optimistic updates make latency visible only when it matters.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1E7FDE-5533-4EFB-8455-66D37DBA9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5275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6EE7B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56B4EC-1970-412B-A5F0-17235A5C9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05150"/>
            <a:ext cx="647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B0F14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B0F14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3E2B40-AF29-4233-B9CF-7624A0C3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800350"/>
            <a:ext cx="2095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E27"/>
          </a:solidFill>
          <a:ln xmlns:a="http://schemas.openxmlformats.org/drawingml/2006/main" w="9525">
            <a:solidFill>
              <a:srgbClr val="2C3A4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2D2187-3D66-4B64-97FC-7784EF192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800350"/>
            <a:ext cx="476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31E4D4-C633-4AB6-8557-0827ADFE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9718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write optimistic entity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0BE57D-494E-4223-AF4B-E877A623F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95275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F5"/>
          </a:solidFill>
          <a:ln xmlns:a="http://schemas.openxmlformats.org/drawingml/2006/main" w="0">
            <a:solidFill>
              <a:srgbClr val="55D6F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042C40-E66E-4AC4-8905-DB91B59A7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05150"/>
            <a:ext cx="647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B0F14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B0F14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0B7A1B-3ECE-44B2-BAD7-5D5EB8453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00350"/>
            <a:ext cx="2095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E27"/>
          </a:solidFill>
          <a:ln xmlns:a="http://schemas.openxmlformats.org/drawingml/2006/main" w="9525">
            <a:solidFill>
              <a:srgbClr val="2C3A4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7AB38D-AAB4-4421-A815-6AE854D01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00350"/>
            <a:ext cx="476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F909FC-222D-41DD-A5BD-BCC4DFE91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9718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render from cache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8CDB84-7B7F-4B25-95E9-5078BED3C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5275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FBBF2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4EB193-6E6B-43FF-9B32-F7B4FB94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05150"/>
            <a:ext cx="647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B0F14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B0F14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77987D-228D-4B6B-AA49-8DBF14B62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800350"/>
            <a:ext cx="2095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E27"/>
          </a:solidFill>
          <a:ln xmlns:a="http://schemas.openxmlformats.org/drawingml/2006/main" w="9525">
            <a:solidFill>
              <a:srgbClr val="2C3A4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9ED38F-EA99-4ED3-8FF9-385282159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800350"/>
            <a:ext cx="476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412493-70E2-4EA7-86C2-CE663419D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9718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reconcile server result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8960BD-21E6-4D6E-A51C-380BA446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76800"/>
            <a:ext cx="809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3C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8B3C2"/>
                </a:solidFill>
                <a:latin typeface="Aptos"/>
                <a:ea typeface="Aptos"/>
                <a:cs typeface="Aptos"/>
              </a:rPr>
              <a:t>The UI should not wait for the network to tell it what the user just did.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8A2DDE-17EA-4CB9-A3C6-88793B0B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Demo cue: run the optimistic interaction slowly, then show the cache state.</a:t>
            </a:r>
          </a:p>
        </p:txBody>
      </p:sp>
    </p:spTree>
    <p:extLst>
      <p:ext uri="{BB962C8B-B14F-4D97-AF65-F5344CB8AC3E}">
        <p14:creationId xmlns:p14="http://schemas.microsoft.com/office/powerpoint/2010/main" val="134268955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BCFF6C-5839-4ABA-A9DE-241E88A06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1796BB-BFA3-4BCD-BC4E-4BFB4ABED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0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48C36B-EA64-47EB-BC44-F8513ECF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3913E7-945D-4A4C-BA10-2A4D7E23F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GRAPHQL CONF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A0FAC8-D0E4-4D57-9E49-AFDC2342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38875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304616-7EB5-4903-A3DB-ACD29FAAB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11B10E-5142-4C58-A826-A65265E5D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05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B3C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8B3C2"/>
                </a:solidFill>
                <a:latin typeface="Aptos"/>
                <a:ea typeface="Aptos"/>
                <a:cs typeface="Aptos"/>
              </a:rPr>
              <a:t>RERENDERS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80E84D-7620-40E9-9F94-804C427BB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8382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@nonreactive changes who has to listen.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A80DD8-5565-45C9-A5A4-0309607C5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29718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E27"/>
          </a:solidFill>
          <a:ln xmlns:a="http://schemas.openxmlformats.org/drawingml/2006/main" w="19050">
            <a:solidFill>
              <a:srgbClr val="FB718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69E434-7EEF-47ED-B0E0-BEDAC3BB4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43250"/>
            <a:ext cx="2209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Parent watches</a:t>
            </a:r>
          </a:p>
          <a:p xmlns:a="http://schemas.openxmlformats.org/drawingml/2006/main">
            <a:pPr algn="ctr">
              <a:defRPr sz="1875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every row field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DBF899-B658-49CA-A132-168E3752A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3243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B71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B7185"/>
                </a:solidFill>
                <a:latin typeface="Aptos"/>
                <a:ea typeface="Aptos"/>
                <a:cs typeface="Aptos"/>
              </a:rPr>
              <a:t>before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FB02BB-1108-4B8B-AD58-9436F834A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57500"/>
            <a:ext cx="29718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E27"/>
          </a:solidFill>
          <a:ln xmlns:a="http://schemas.openxmlformats.org/drawingml/2006/main" w="19050">
            <a:solidFill>
              <a:srgbClr val="55D6F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8A9668-126C-4162-AC78-E0DC57E9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067050"/>
            <a:ext cx="2286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Parent watches ids.</a:t>
            </a:r>
          </a:p>
          <a:p xmlns:a="http://schemas.openxmlformats.org/drawingml/2006/main">
            <a:pPr algn="ctr">
              <a:defRPr sz="16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Rows watch fragments.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380943-9F40-48D8-9322-F037AABE3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3243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5D6F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D6F5"/>
                </a:solidFill>
                <a:latin typeface="Aptos"/>
                <a:ea typeface="Aptos"/>
                <a:cs typeface="Aptos"/>
              </a:rPr>
              <a:t>after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2D582F-73D6-48CA-8251-3FE3E3B9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0"/>
            <a:ext cx="781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3C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8B3C2"/>
                </a:solidFill>
                <a:latin typeface="Aptos"/>
                <a:ea typeface="Aptos"/>
                <a:cs typeface="Aptos"/>
              </a:rPr>
              <a:t>useFragment creates the live binding where the data is consumed.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691701-2F41-46D2-BB7B-3A4C47C0E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Demo cue: show a row update without making the list re-render.</a:t>
            </a:r>
          </a:p>
        </p:txBody>
      </p:sp>
    </p:spTree>
    <p:extLst>
      <p:ext uri="{BB962C8B-B14F-4D97-AF65-F5344CB8AC3E}">
        <p14:creationId xmlns:p14="http://schemas.microsoft.com/office/powerpoint/2010/main" val="201766364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CAF2EB-3EE4-4D62-8B30-4E804B0E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CE5A1B-DA04-48E3-B8BD-5FEE73F7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0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42DCC9-6AAC-4FFA-B567-0525649B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7EC2A4-3808-478E-A1C4-F96A24C6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GRAPHQL CONF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68711C-3848-4515-A4E5-43F01D740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38875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56C62F-886C-41DB-A558-6B04A4622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893B4F-6543-4053-AC0A-D9F587ECD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05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B3C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8B3C2"/>
                </a:solidFill>
                <a:latin typeface="Aptos"/>
                <a:ea typeface="Aptos"/>
                <a:cs typeface="Aptos"/>
              </a:rPr>
              <a:t>PERFORMANCE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AD8D82-863A-4CCE-9209-F92F7DAD1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8953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Fewer refetches. Fewer rerenders. Less glue code.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BF1F99-01EC-4EA5-906C-4F8EDFFF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14650"/>
            <a:ext cx="2438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E27"/>
          </a:solidFill>
          <a:ln xmlns:a="http://schemas.openxmlformats.org/drawingml/2006/main" w="9525">
            <a:solidFill>
              <a:srgbClr val="2C3A4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9B9151-DA86-4E60-9B3E-EB08F11E5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146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446357-5E0F-4C30-83A8-3657B9FD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86100"/>
            <a:ext cx="2057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Preload once</a:t>
            </a:r>
          </a:p>
          <a:p xmlns:a="http://schemas.openxmlformats.org/drawingml/2006/main">
            <a:pPr algn="l">
              <a:defRPr sz="13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at navigation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B0EDBD-4244-4BBF-A37F-E597352B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914650"/>
            <a:ext cx="2438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E27"/>
          </a:solidFill>
          <a:ln xmlns:a="http://schemas.openxmlformats.org/drawingml/2006/main" w="9525">
            <a:solidFill>
              <a:srgbClr val="2C3A4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0DF25F-6F4B-43D5-A1B7-61D32B5C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9146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F63B82-88FF-4B86-9563-4F634B2A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086100"/>
            <a:ext cx="2057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Normalize once</a:t>
            </a:r>
          </a:p>
          <a:p xmlns:a="http://schemas.openxmlformats.org/drawingml/2006/main">
            <a:pPr algn="l">
              <a:defRPr sz="13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in the cache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B1F031-9401-4741-A1CA-5E9EB95B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14650"/>
            <a:ext cx="2438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E27"/>
          </a:solidFill>
          <a:ln xmlns:a="http://schemas.openxmlformats.org/drawingml/2006/main" w="9525">
            <a:solidFill>
              <a:srgbClr val="2C3A4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70C1A5-2084-41E7-B504-52FAB3165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146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1A9940-370C-4BD6-A1FF-80E3F90CE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86100"/>
            <a:ext cx="2057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Read narrowly</a:t>
            </a:r>
          </a:p>
          <a:p xmlns:a="http://schemas.openxmlformats.org/drawingml/2006/main">
            <a:pPr algn="l">
              <a:defRPr sz="13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in components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68407F-0AC8-4580-8BF9-F6B0313E4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647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8B3C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8B3C2"/>
                </a:solidFill>
                <a:latin typeface="Aptos"/>
                <a:ea typeface="Aptos"/>
                <a:cs typeface="Aptos"/>
              </a:rPr>
              <a:t>The performance story is mostly a data ownership story.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C6C5EB-AFCF-40EA-8DA6-8C332900D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Demo cue: compare what changes in the UI with what actually changes in React.</a:t>
            </a:r>
          </a:p>
        </p:txBody>
      </p:sp>
    </p:spTree>
    <p:extLst>
      <p:ext uri="{BB962C8B-B14F-4D97-AF65-F5344CB8AC3E}">
        <p14:creationId xmlns:p14="http://schemas.microsoft.com/office/powerpoint/2010/main" val="96963152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739A68-3EDD-4BD7-9701-A437F5B45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2F9301-62DD-4776-A91D-360EB479C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0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545022-318D-4CF4-8EEF-C01FBB511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16A448-2EF5-42A8-9718-8C77BE946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GRAPHQL CONF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AC38A6-BEC1-49FE-B377-28D80212C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38875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B0B15E-F154-459C-9993-3A1EB21F9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0D1848-AAD7-4F4D-ADA8-4BD2A77BB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05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B3C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8B3C2"/>
                </a:solidFill>
                <a:latin typeface="Aptos"/>
                <a:ea typeface="Aptos"/>
                <a:cs typeface="Aptos"/>
              </a:rPr>
              <a:t>DEMO MAP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E0082C-9D06-435E-8EA0-E54C14D23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7239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The path through the app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17B4DC-33B1-48B6-9109-C13E5DE25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5D6F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55D6F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ABBFB8-598E-4E9E-9190-00C97934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457450"/>
            <a:ext cx="106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930BF7-625D-4D27-9CA2-54681BC2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305050"/>
            <a:ext cx="438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route loader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795F95-08FB-4BDE-8A8F-37D488C6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146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5D6F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55D6F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FD039D-9788-4FFA-B44C-FDE282618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048000"/>
            <a:ext cx="106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09E365-8A44-4BD2-93C3-9714F4B2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895600"/>
            <a:ext cx="438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generated query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E66CE6-B49E-4951-A057-9B75418B1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5D6F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55D6F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519959-77F9-4F4F-92FF-AA8BB4BF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38550"/>
            <a:ext cx="106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5A7EB1-7264-41FA-B5D8-EE81A5AF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486150"/>
            <a:ext cx="438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fragment boundary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6D290F-519E-4B75-85F5-1FFBEF006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5D6F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55D6F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12232B-81F1-4320-814A-04273079F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229100"/>
            <a:ext cx="106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D1B955-2ABB-420E-9769-3C8EA26EB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076700"/>
            <a:ext cx="438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optimistic mutation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A1A8A1-D251-4A0D-B067-39011BCA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8630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5D6F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55D6F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D29B17-1E7C-488A-AFC9-87C18BA2C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819650"/>
            <a:ext cx="106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9FBAFA-F174-45D9-8B2B-7A2833E96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667250"/>
            <a:ext cx="438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cache broadcast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B00958-474E-40C3-9C50-4354A4676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724150"/>
            <a:ext cx="30670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8B3C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A8B3C2"/>
                </a:solidFill>
                <a:latin typeface="Aptos"/>
                <a:ea typeface="Aptos"/>
                <a:cs typeface="Aptos"/>
              </a:rPr>
              <a:t>Keep returning to the same question: who owns this data, and who should react when it changes?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F140B4-93D4-4538-ABCA-EB3B1D635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Use this slide as the live-coding checklist.</a:t>
            </a:r>
          </a:p>
        </p:txBody>
      </p:sp>
    </p:spTree>
    <p:extLst>
      <p:ext uri="{BB962C8B-B14F-4D97-AF65-F5344CB8AC3E}">
        <p14:creationId xmlns:p14="http://schemas.microsoft.com/office/powerpoint/2010/main" val="80889161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83CEE7-1348-4826-A8DA-87A544DBE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5DD7E1-AE5B-43D8-B69C-8C58ED1F9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0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03E514-DA0F-4841-8991-592423852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9EF1BB-D68E-4943-A771-B28F82E52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GRAPHQL CONF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1DAC18-9C11-4E3B-9B5F-E4909E66D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38875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0AE1EC-9EE0-4198-A44C-7BC47A7A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30BED9-58A0-473C-964A-EFAD9E98C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05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B3C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8B3C2"/>
                </a:solidFill>
                <a:latin typeface="Aptos"/>
                <a:ea typeface="Aptos"/>
                <a:cs typeface="Aptos"/>
              </a:rPr>
              <a:t>CLOSE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DE0B2B-22AB-4190-8E7B-65B47D377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9144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Modern Apollo is not heavier. It is more explicit.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9E505A-022D-484D-BFE6-3C265B6D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2945E9-FDA6-487B-9D66-547E8D50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857500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Preload at the route.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9D4661-BCBC-4B1F-BF7C-D7E11A8C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194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B1A6DA-E2E5-436C-B53E-A698310C9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57500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Colocate the fragment.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EC278C-1484-4FA3-A618-9C7105AED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891574-8DD3-4B51-BA14-095A9C75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905250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Trust the normalized cache.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6F155F-4698-4B30-9825-9983F4B42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671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C58536-16E5-4001-BA11-071F55467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905250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Make rerenders intentional.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773BF7-4489-434C-AB93-66021B749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57800"/>
            <a:ext cx="781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8B3C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8B3C2"/>
                </a:solidFill>
                <a:latin typeface="Aptos"/>
                <a:ea typeface="Aptos"/>
                <a:cs typeface="Aptos"/>
              </a:rPr>
              <a:t>AI can help you type the pattern. You still need to choose the pattern.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408A6D-BAAA-4C30-9EC7-2D301D8E9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Closing line: simpler mental model, better perceived performance.</a:t>
            </a:r>
          </a:p>
        </p:txBody>
      </p:sp>
    </p:spTree>
    <p:extLst>
      <p:ext uri="{BB962C8B-B14F-4D97-AF65-F5344CB8AC3E}">
        <p14:creationId xmlns:p14="http://schemas.microsoft.com/office/powerpoint/2010/main" val="2170050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2026-05-16T06:20:33.0230000Z</dcterms:created>
  <dcterms:modified xsi:type="dcterms:W3CDTF">2026-05-16T06:20:33.0230000Z</dcterms:modified>
</coreProperties>
</file>